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AI agents now answer users directly. Most guardrails look at what goes INTO the model (the prompt); very few check what comes OUT. Was the answer true? Fair? On topic? This policy checks every answer on the gateway, before it reaches the user, with no change to the agent.</a:t>
            </a:r>
          </a:p>
          <a:p/>
          <a:p>
            <a:r>
              <a:t>01 WHERE IT RUNS — Omni Gateway, as an outbound policy: between the gateway and the agent, so it sees exactly what the agent sent back. For each reply the gateway asks a separate AI (OpenAI gpt-5.4) to judge it. The agent uses a smaller model, so it's never marking its own homework.</a:t>
            </a:r>
          </a:p>
          <a:p/>
          <a:p>
            <a:r>
              <a:t>02 HOW IT DECIDES — Three layers. (1) The LLM judge reads the user's question and the answer and scores 0-1 for hallucination, toxicity, bias and anomaly (off-topic, leaked instructions). (2) If the judge is slow or down, a backup checklist of red-flag words takes over; cruder, but traffic never waits. (3) Always-on checks: empty, cut-off or looping answers, failed tasks, and users' thumbs-down; if many users complain, every answer gets flagged.</a:t>
            </a:r>
          </a:p>
          <a:p/>
          <a:p>
            <a:r>
              <a:t>03 WHAT IT DOES — Your choice per risk: PASS clean answers, ANNOTATE (deliver with a quality report the app can use to warn the user), or BLOCK (withhold the answer). Start by monitoring, tighten one category at a time. Every flag is logged by the gateway and reported in the response.</a:t>
            </a:r>
          </a:p>
          <a:p/>
          <a:p>
            <a:r>
              <a:t>NUMBERS — Live run on CloudHub 2.0: 1-2.5 s per verdict, 4 risk categories, A2A v0.3 and v1.0 plus OpenAI/Anthropic-style APIs, 102 automated tests.</a:t>
            </a:r>
          </a:p>
          <a:p/>
          <a:p>
            <a:r>
              <a:t>TRANSITION — Honesty note: the bad answers in the demo are scripted (today's models won't misbehave on cue). The judge is real, and so is every verdict. Let's look.</a:t>
            </a:r>
          </a:p>
          <a:p/>
          <a:p>
            <a:r>
              <a:t>IF ASKED — Monitoring: request volume and latency yes; flags are in gateway logs and the response report, outbound violation counts aren't in Monitoring yet. LLM traffic: the policy reads OpenAI and Anthropic formats; the live demo uses an A2A agent, the LLM-API path is lab-tested. Latency: ~1-2.5 s with the judge on every answer; near zero for clean traffic with judgeMode onSuspicion.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3F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1234440"/>
            <a:ext cx="12191695" cy="45720"/>
          </a:xfrm>
          <a:prstGeom prst="rect">
            <a:avLst/>
          </a:prstGeom>
          <a:solidFill>
            <a:srgbClr val="00A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201168"/>
            <a:ext cx="10972800" cy="274320"/>
          </a:xfrm>
          <a:prstGeom prst="rect">
            <a:avLst/>
          </a:prstGeom>
          <a:noFill/>
        </p:spPr>
        <p:txBody>
          <a:bodyPr wrap="square" lIns="18288" rIns="18288" tIns="18288" bIns="18288" anchor="t">
            <a:spAutoFit/>
          </a:bodyPr>
          <a:lstStyle/>
          <a:p>
            <a:pPr algn="l"/>
            <a:r>
              <a:rPr sz="1200" b="1">
                <a:solidFill>
                  <a:srgbClr val="1B96FF"/>
                </a:solidFill>
                <a:latin typeface="Salesforce Sans"/>
              </a:rPr>
              <a:t>OMNI GATEWAY POLICY  ·  FOR AI AGENTS</a:t>
            </a:r>
          </a:p>
        </p:txBody>
      </p:sp>
      <p:sp>
        <p:nvSpPr>
          <p:cNvPr id="5" name="TextBox 4"/>
          <p:cNvSpPr txBox="1"/>
          <p:nvPr/>
        </p:nvSpPr>
        <p:spPr>
          <a:xfrm>
            <a:off x="548640" y="457200"/>
            <a:ext cx="10972800" cy="548640"/>
          </a:xfrm>
          <a:prstGeom prst="rect">
            <a:avLst/>
          </a:prstGeom>
          <a:noFill/>
        </p:spPr>
        <p:txBody>
          <a:bodyPr wrap="square" lIns="18288" rIns="18288" tIns="18288" bIns="18288" anchor="t">
            <a:spAutoFit/>
          </a:bodyPr>
          <a:lstStyle/>
          <a:p>
            <a:pPr algn="l"/>
            <a:r>
              <a:rPr sz="3200" b="1">
                <a:solidFill>
                  <a:srgbClr val="FFFFFF"/>
                </a:solidFill>
                <a:latin typeface="Salesforce Sans"/>
              </a:rPr>
              <a:t>Output Quality &amp; Anomaly Detection</a:t>
            </a:r>
          </a:p>
        </p:txBody>
      </p:sp>
      <p:sp>
        <p:nvSpPr>
          <p:cNvPr id="6" name="TextBox 5"/>
          <p:cNvSpPr txBox="1"/>
          <p:nvPr/>
        </p:nvSpPr>
        <p:spPr>
          <a:xfrm>
            <a:off x="548640" y="1481328"/>
            <a:ext cx="11155680" cy="411480"/>
          </a:xfrm>
          <a:prstGeom prst="rect">
            <a:avLst/>
          </a:prstGeom>
          <a:noFill/>
        </p:spPr>
        <p:txBody>
          <a:bodyPr wrap="square" lIns="18288" rIns="18288" tIns="18288" bIns="18288" anchor="t">
            <a:spAutoFit/>
          </a:bodyPr>
          <a:lstStyle/>
          <a:p>
            <a:pPr algn="l"/>
            <a:r>
              <a:rPr sz="1700" b="0">
                <a:solidFill>
                  <a:srgbClr val="014486"/>
                </a:solidFill>
                <a:latin typeface="Salesforce Sans"/>
              </a:rPr>
              <a:t>Catches hallucinated, biased, toxic and off-track AI answers on the gateway — before they reach users.</a:t>
            </a:r>
          </a:p>
        </p:txBody>
      </p:sp>
      <p:sp>
        <p:nvSpPr>
          <p:cNvPr id="7" name="Rounded Rectangle 6"/>
          <p:cNvSpPr/>
          <p:nvPr/>
        </p:nvSpPr>
        <p:spPr>
          <a:xfrm>
            <a:off x="548640" y="2103120"/>
            <a:ext cx="3566160" cy="3566160"/>
          </a:xfrm>
          <a:prstGeom prst="roundRect">
            <a:avLst>
              <a:gd name="adj" fmla="val 4000"/>
            </a:avLst>
          </a:prstGeom>
          <a:solidFill>
            <a:srgbClr val="FFFFFF"/>
          </a:solidFill>
          <a:ln w="1270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2267712"/>
            <a:ext cx="3108960" cy="274320"/>
          </a:xfrm>
          <a:prstGeom prst="rect">
            <a:avLst/>
          </a:prstGeom>
          <a:noFill/>
        </p:spPr>
        <p:txBody>
          <a:bodyPr wrap="square" lIns="18288" rIns="18288" tIns="18288" bIns="18288" anchor="t">
            <a:spAutoFit/>
          </a:bodyPr>
          <a:lstStyle/>
          <a:p>
            <a:pPr algn="l"/>
            <a:r>
              <a:rPr sz="1100" b="1">
                <a:solidFill>
                  <a:srgbClr val="0176D3"/>
                </a:solidFill>
                <a:latin typeface="Salesforce Sans"/>
              </a:rPr>
              <a:t>01  WHERE IT RUNS</a:t>
            </a:r>
          </a:p>
        </p:txBody>
      </p:sp>
      <p:sp>
        <p:nvSpPr>
          <p:cNvPr id="9" name="TextBox 8"/>
          <p:cNvSpPr txBox="1"/>
          <p:nvPr/>
        </p:nvSpPr>
        <p:spPr>
          <a:xfrm>
            <a:off x="777240" y="2505456"/>
            <a:ext cx="3108960" cy="365760"/>
          </a:xfrm>
          <a:prstGeom prst="rect">
            <a:avLst/>
          </a:prstGeom>
          <a:noFill/>
        </p:spPr>
        <p:txBody>
          <a:bodyPr wrap="square" lIns="18288" rIns="18288" tIns="18288" bIns="18288" anchor="t">
            <a:spAutoFit/>
          </a:bodyPr>
          <a:lstStyle/>
          <a:p>
            <a:pPr algn="l"/>
            <a:r>
              <a:rPr sz="1700" b="1">
                <a:solidFill>
                  <a:srgbClr val="014486"/>
                </a:solidFill>
                <a:latin typeface="Salesforce Sans"/>
              </a:rPr>
              <a:t>Outbound, on the gateway</a:t>
            </a:r>
          </a:p>
        </p:txBody>
      </p:sp>
      <p:sp>
        <p:nvSpPr>
          <p:cNvPr id="10" name="Rounded Rectangle 9"/>
          <p:cNvSpPr/>
          <p:nvPr/>
        </p:nvSpPr>
        <p:spPr>
          <a:xfrm>
            <a:off x="777240" y="3063239"/>
            <a:ext cx="1783080" cy="502920"/>
          </a:xfrm>
          <a:prstGeom prst="roundRect">
            <a:avLst>
              <a:gd name="adj" fmla="val 12000"/>
            </a:avLst>
          </a:prstGeom>
          <a:solidFill>
            <a:srgbClr val="FFFFFF"/>
          </a:solidFill>
          <a:ln w="12700">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118103"/>
            <a:ext cx="1600200" cy="393192"/>
          </a:xfrm>
          <a:prstGeom prst="rect">
            <a:avLst/>
          </a:prstGeom>
          <a:noFill/>
        </p:spPr>
        <p:txBody>
          <a:bodyPr wrap="square" lIns="18288" rIns="18288" tIns="18288" bIns="18288" anchor="ctr">
            <a:spAutoFit/>
          </a:bodyPr>
          <a:lstStyle/>
          <a:p>
            <a:pPr algn="ctr"/>
            <a:r>
              <a:rPr sz="1200" b="1">
                <a:solidFill>
                  <a:srgbClr val="014486"/>
                </a:solidFill>
                <a:latin typeface="Salesforce Sans"/>
              </a:rPr>
              <a:t>User / app</a:t>
            </a:r>
          </a:p>
          <a:p>
            <a:pPr algn="ctr"/>
            <a:r>
              <a:rPr sz="1000" b="0">
                <a:solidFill>
                  <a:srgbClr val="444444"/>
                </a:solidFill>
                <a:latin typeface="Salesforce Sans"/>
              </a:rPr>
              <a:t>A2A or LLM API call</a:t>
            </a:r>
          </a:p>
        </p:txBody>
      </p:sp>
      <p:sp>
        <p:nvSpPr>
          <p:cNvPr id="12" name="Rounded Rectangle 11"/>
          <p:cNvSpPr/>
          <p:nvPr/>
        </p:nvSpPr>
        <p:spPr>
          <a:xfrm>
            <a:off x="777240" y="3886200"/>
            <a:ext cx="1783080" cy="640080"/>
          </a:xfrm>
          <a:prstGeom prst="roundRect">
            <a:avLst>
              <a:gd name="adj" fmla="val 12000"/>
            </a:avLst>
          </a:prstGeom>
          <a:solidFill>
            <a:srgbClr val="032D60"/>
          </a:solidFill>
          <a:ln w="12700">
            <a:solidFill>
              <a:srgbClr val="032D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941063"/>
            <a:ext cx="1600200" cy="530352"/>
          </a:xfrm>
          <a:prstGeom prst="rect">
            <a:avLst/>
          </a:prstGeom>
          <a:noFill/>
        </p:spPr>
        <p:txBody>
          <a:bodyPr wrap="square" lIns="18288" rIns="18288" tIns="18288" bIns="18288" anchor="ctr">
            <a:spAutoFit/>
          </a:bodyPr>
          <a:lstStyle/>
          <a:p>
            <a:pPr algn="ctr"/>
            <a:r>
              <a:rPr sz="1200" b="1">
                <a:solidFill>
                  <a:srgbClr val="FFFFFF"/>
                </a:solidFill>
                <a:latin typeface="Salesforce Sans"/>
              </a:rPr>
              <a:t>Omni Gateway</a:t>
            </a:r>
          </a:p>
          <a:p>
            <a:pPr algn="ctr"/>
            <a:r>
              <a:rPr sz="1000" b="0">
                <a:solidFill>
                  <a:srgbClr val="1B96FF"/>
                </a:solidFill>
                <a:latin typeface="Salesforce Sans"/>
              </a:rPr>
              <a:t>outbound policy scores the reply</a:t>
            </a:r>
          </a:p>
        </p:txBody>
      </p:sp>
      <p:sp>
        <p:nvSpPr>
          <p:cNvPr id="14" name="Rounded Rectangle 13"/>
          <p:cNvSpPr/>
          <p:nvPr/>
        </p:nvSpPr>
        <p:spPr>
          <a:xfrm>
            <a:off x="777240" y="4846320"/>
            <a:ext cx="1783080" cy="548640"/>
          </a:xfrm>
          <a:prstGeom prst="roundRect">
            <a:avLst>
              <a:gd name="adj" fmla="val 12000"/>
            </a:avLst>
          </a:prstGeom>
          <a:solidFill>
            <a:srgbClr val="FFFFFF"/>
          </a:solidFill>
          <a:ln w="12700">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4901183"/>
            <a:ext cx="1600200" cy="438912"/>
          </a:xfrm>
          <a:prstGeom prst="rect">
            <a:avLst/>
          </a:prstGeom>
          <a:noFill/>
        </p:spPr>
        <p:txBody>
          <a:bodyPr wrap="square" lIns="18288" rIns="18288" tIns="18288" bIns="18288" anchor="ctr">
            <a:spAutoFit/>
          </a:bodyPr>
          <a:lstStyle/>
          <a:p>
            <a:pPr algn="ctr"/>
            <a:r>
              <a:rPr sz="1200" b="1">
                <a:solidFill>
                  <a:srgbClr val="014486"/>
                </a:solidFill>
                <a:latin typeface="Salesforce Sans"/>
              </a:rPr>
              <a:t>AI agent / LLM</a:t>
            </a:r>
          </a:p>
          <a:p>
            <a:pPr algn="ctr"/>
            <a:r>
              <a:rPr sz="1000" b="0">
                <a:solidFill>
                  <a:srgbClr val="444444"/>
                </a:solidFill>
                <a:latin typeface="Salesforce Sans"/>
              </a:rPr>
              <a:t>e.g. CloudHub 2.0 agent</a:t>
            </a:r>
          </a:p>
        </p:txBody>
      </p:sp>
      <p:cxnSp>
        <p:nvCxnSpPr>
          <p:cNvPr id="16" name="Connector 15"/>
          <p:cNvCxnSpPr/>
          <p:nvPr/>
        </p:nvCxnSpPr>
        <p:spPr>
          <a:xfrm>
            <a:off x="1668780" y="3566160"/>
            <a:ext cx="0" cy="320040"/>
          </a:xfrm>
          <a:prstGeom prst="line">
            <a:avLst/>
          </a:prstGeom>
          <a:ln w="25400">
            <a:solidFill>
              <a:srgbClr val="0176D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668780" y="4526279"/>
            <a:ext cx="0" cy="320041"/>
          </a:xfrm>
          <a:prstGeom prst="line">
            <a:avLst/>
          </a:prstGeom>
          <a:ln w="25400">
            <a:solidFill>
              <a:srgbClr val="0176D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0" y="3886200"/>
            <a:ext cx="1188720" cy="640080"/>
          </a:xfrm>
          <a:prstGeom prst="roundRect">
            <a:avLst>
              <a:gd name="adj" fmla="val 12000"/>
            </a:avLst>
          </a:prstGeom>
          <a:solidFill>
            <a:srgbClr val="FFFFFF"/>
          </a:solidFill>
          <a:ln w="12700">
            <a:solidFill>
              <a:srgbClr val="1B96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834640" y="3941063"/>
            <a:ext cx="1005840" cy="530352"/>
          </a:xfrm>
          <a:prstGeom prst="rect">
            <a:avLst/>
          </a:prstGeom>
          <a:noFill/>
        </p:spPr>
        <p:txBody>
          <a:bodyPr wrap="square" lIns="18288" rIns="18288" tIns="18288" bIns="18288" anchor="ctr">
            <a:spAutoFit/>
          </a:bodyPr>
          <a:lstStyle/>
          <a:p>
            <a:pPr algn="ctr"/>
            <a:r>
              <a:rPr sz="1200" b="1">
                <a:solidFill>
                  <a:srgbClr val="014486"/>
                </a:solidFill>
                <a:latin typeface="Salesforce Sans"/>
              </a:rPr>
              <a:t>LLM judge</a:t>
            </a:r>
          </a:p>
          <a:p>
            <a:pPr algn="ctr"/>
            <a:r>
              <a:rPr sz="1000" b="0">
                <a:solidFill>
                  <a:srgbClr val="444444"/>
                </a:solidFill>
                <a:latin typeface="Salesforce Sans"/>
              </a:rPr>
              <a:t>OpenAI gpt-5.4</a:t>
            </a:r>
          </a:p>
        </p:txBody>
      </p:sp>
      <p:cxnSp>
        <p:nvCxnSpPr>
          <p:cNvPr id="20" name="Connector 19"/>
          <p:cNvCxnSpPr/>
          <p:nvPr/>
        </p:nvCxnSpPr>
        <p:spPr>
          <a:xfrm>
            <a:off x="2560320" y="4206240"/>
            <a:ext cx="182880" cy="0"/>
          </a:xfrm>
          <a:prstGeom prst="line">
            <a:avLst/>
          </a:prstGeom>
          <a:ln w="19050">
            <a:solidFill>
              <a:srgbClr val="1B96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15968" y="2103120"/>
            <a:ext cx="3566160" cy="3566160"/>
          </a:xfrm>
          <a:prstGeom prst="roundRect">
            <a:avLst>
              <a:gd name="adj" fmla="val 4000"/>
            </a:avLst>
          </a:prstGeom>
          <a:solidFill>
            <a:srgbClr val="FFFFFF"/>
          </a:solidFill>
          <a:ln w="1270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544568" y="2267712"/>
            <a:ext cx="3108960" cy="274320"/>
          </a:xfrm>
          <a:prstGeom prst="rect">
            <a:avLst/>
          </a:prstGeom>
          <a:noFill/>
        </p:spPr>
        <p:txBody>
          <a:bodyPr wrap="square" lIns="18288" rIns="18288" tIns="18288" bIns="18288" anchor="t">
            <a:spAutoFit/>
          </a:bodyPr>
          <a:lstStyle/>
          <a:p>
            <a:pPr algn="l"/>
            <a:r>
              <a:rPr sz="1100" b="1">
                <a:solidFill>
                  <a:srgbClr val="0176D3"/>
                </a:solidFill>
                <a:latin typeface="Salesforce Sans"/>
              </a:rPr>
              <a:t>02  HOW IT DECIDES</a:t>
            </a:r>
          </a:p>
        </p:txBody>
      </p:sp>
      <p:sp>
        <p:nvSpPr>
          <p:cNvPr id="23" name="TextBox 22"/>
          <p:cNvSpPr txBox="1"/>
          <p:nvPr/>
        </p:nvSpPr>
        <p:spPr>
          <a:xfrm>
            <a:off x="4544568" y="2505456"/>
            <a:ext cx="3108960" cy="365760"/>
          </a:xfrm>
          <a:prstGeom prst="rect">
            <a:avLst/>
          </a:prstGeom>
          <a:noFill/>
        </p:spPr>
        <p:txBody>
          <a:bodyPr wrap="square" lIns="18288" rIns="18288" tIns="18288" bIns="18288" anchor="t">
            <a:spAutoFit/>
          </a:bodyPr>
          <a:lstStyle/>
          <a:p>
            <a:pPr algn="l"/>
            <a:r>
              <a:rPr sz="1700" b="1">
                <a:solidFill>
                  <a:srgbClr val="014486"/>
                </a:solidFill>
                <a:latin typeface="Salesforce Sans"/>
              </a:rPr>
              <a:t>Three layers, always on</a:t>
            </a:r>
          </a:p>
        </p:txBody>
      </p:sp>
      <p:sp>
        <p:nvSpPr>
          <p:cNvPr id="24" name="TextBox 23"/>
          <p:cNvSpPr txBox="1"/>
          <p:nvPr/>
        </p:nvSpPr>
        <p:spPr>
          <a:xfrm>
            <a:off x="4544568" y="2980944"/>
            <a:ext cx="365760" cy="411480"/>
          </a:xfrm>
          <a:prstGeom prst="rect">
            <a:avLst/>
          </a:prstGeom>
          <a:noFill/>
        </p:spPr>
        <p:txBody>
          <a:bodyPr wrap="square" lIns="18288" rIns="18288" tIns="18288" bIns="18288" anchor="t">
            <a:spAutoFit/>
          </a:bodyPr>
          <a:lstStyle/>
          <a:p>
            <a:pPr algn="l"/>
            <a:r>
              <a:rPr sz="2400" b="1">
                <a:solidFill>
                  <a:srgbClr val="0176D3"/>
                </a:solidFill>
                <a:latin typeface="Salesforce Sans"/>
              </a:rPr>
              <a:t>1</a:t>
            </a:r>
          </a:p>
        </p:txBody>
      </p:sp>
      <p:sp>
        <p:nvSpPr>
          <p:cNvPr id="25" name="TextBox 24"/>
          <p:cNvSpPr txBox="1"/>
          <p:nvPr/>
        </p:nvSpPr>
        <p:spPr>
          <a:xfrm>
            <a:off x="4937760" y="3017520"/>
            <a:ext cx="2743200" cy="274320"/>
          </a:xfrm>
          <a:prstGeom prst="rect">
            <a:avLst/>
          </a:prstGeom>
          <a:noFill/>
        </p:spPr>
        <p:txBody>
          <a:bodyPr wrap="square" lIns="18288" rIns="18288" tIns="18288" bIns="18288" anchor="t">
            <a:spAutoFit/>
          </a:bodyPr>
          <a:lstStyle/>
          <a:p>
            <a:pPr algn="l"/>
            <a:r>
              <a:rPr sz="1400" b="1">
                <a:solidFill>
                  <a:srgbClr val="181818"/>
                </a:solidFill>
                <a:latin typeface="Salesforce Sans"/>
              </a:rPr>
              <a:t>LLM judge</a:t>
            </a:r>
          </a:p>
        </p:txBody>
      </p:sp>
      <p:sp>
        <p:nvSpPr>
          <p:cNvPr id="26" name="TextBox 25"/>
          <p:cNvSpPr txBox="1"/>
          <p:nvPr/>
        </p:nvSpPr>
        <p:spPr>
          <a:xfrm>
            <a:off x="4937760" y="3273552"/>
            <a:ext cx="2743200" cy="566928"/>
          </a:xfrm>
          <a:prstGeom prst="rect">
            <a:avLst/>
          </a:prstGeom>
          <a:noFill/>
        </p:spPr>
        <p:txBody>
          <a:bodyPr wrap="square" lIns="18288" rIns="18288" tIns="18288" bIns="18288" anchor="t">
            <a:spAutoFit/>
          </a:bodyPr>
          <a:lstStyle/>
          <a:p>
            <a:pPr algn="l"/>
            <a:r>
              <a:rPr sz="1100" b="0">
                <a:solidFill>
                  <a:srgbClr val="444444"/>
                </a:solidFill>
                <a:latin typeface="Salesforce Sans"/>
              </a:rPr>
              <a:t>Scores each answer 0–1 for hallucination, toxicity, bias and anomaly — and sees the user's question.</a:t>
            </a:r>
          </a:p>
        </p:txBody>
      </p:sp>
      <p:sp>
        <p:nvSpPr>
          <p:cNvPr id="27" name="TextBox 26"/>
          <p:cNvSpPr txBox="1"/>
          <p:nvPr/>
        </p:nvSpPr>
        <p:spPr>
          <a:xfrm>
            <a:off x="4544568" y="3849624"/>
            <a:ext cx="365760" cy="411480"/>
          </a:xfrm>
          <a:prstGeom prst="rect">
            <a:avLst/>
          </a:prstGeom>
          <a:noFill/>
        </p:spPr>
        <p:txBody>
          <a:bodyPr wrap="square" lIns="18288" rIns="18288" tIns="18288" bIns="18288" anchor="t">
            <a:spAutoFit/>
          </a:bodyPr>
          <a:lstStyle/>
          <a:p>
            <a:pPr algn="l"/>
            <a:r>
              <a:rPr sz="2400" b="1">
                <a:solidFill>
                  <a:srgbClr val="0176D3"/>
                </a:solidFill>
                <a:latin typeface="Salesforce Sans"/>
              </a:rPr>
              <a:t>2</a:t>
            </a:r>
          </a:p>
        </p:txBody>
      </p:sp>
      <p:sp>
        <p:nvSpPr>
          <p:cNvPr id="28" name="TextBox 27"/>
          <p:cNvSpPr txBox="1"/>
          <p:nvPr/>
        </p:nvSpPr>
        <p:spPr>
          <a:xfrm>
            <a:off x="4937760" y="3886200"/>
            <a:ext cx="2743200" cy="274320"/>
          </a:xfrm>
          <a:prstGeom prst="rect">
            <a:avLst/>
          </a:prstGeom>
          <a:noFill/>
        </p:spPr>
        <p:txBody>
          <a:bodyPr wrap="square" lIns="18288" rIns="18288" tIns="18288" bIns="18288" anchor="t">
            <a:spAutoFit/>
          </a:bodyPr>
          <a:lstStyle/>
          <a:p>
            <a:pPr algn="l"/>
            <a:r>
              <a:rPr sz="1400" b="1">
                <a:solidFill>
                  <a:srgbClr val="181818"/>
                </a:solidFill>
                <a:latin typeface="Salesforce Sans"/>
              </a:rPr>
              <a:t>Word-list fallback</a:t>
            </a:r>
          </a:p>
        </p:txBody>
      </p:sp>
      <p:sp>
        <p:nvSpPr>
          <p:cNvPr id="29" name="TextBox 28"/>
          <p:cNvSpPr txBox="1"/>
          <p:nvPr/>
        </p:nvSpPr>
        <p:spPr>
          <a:xfrm>
            <a:off x="4937760" y="4142232"/>
            <a:ext cx="2743200" cy="566928"/>
          </a:xfrm>
          <a:prstGeom prst="rect">
            <a:avLst/>
          </a:prstGeom>
          <a:noFill/>
        </p:spPr>
        <p:txBody>
          <a:bodyPr wrap="square" lIns="18288" rIns="18288" tIns="18288" bIns="18288" anchor="t">
            <a:spAutoFit/>
          </a:bodyPr>
          <a:lstStyle/>
          <a:p>
            <a:pPr algn="l"/>
            <a:r>
              <a:rPr sz="1100" b="0">
                <a:solidFill>
                  <a:srgbClr val="444444"/>
                </a:solidFill>
                <a:latin typeface="Salesforce Sans"/>
              </a:rPr>
              <a:t>Scores the same risks if the judge is slow or down. Traffic is never held back.</a:t>
            </a:r>
          </a:p>
        </p:txBody>
      </p:sp>
      <p:sp>
        <p:nvSpPr>
          <p:cNvPr id="30" name="TextBox 29"/>
          <p:cNvSpPr txBox="1"/>
          <p:nvPr/>
        </p:nvSpPr>
        <p:spPr>
          <a:xfrm>
            <a:off x="4544568" y="4718303"/>
            <a:ext cx="365760" cy="411480"/>
          </a:xfrm>
          <a:prstGeom prst="rect">
            <a:avLst/>
          </a:prstGeom>
          <a:noFill/>
        </p:spPr>
        <p:txBody>
          <a:bodyPr wrap="square" lIns="18288" rIns="18288" tIns="18288" bIns="18288" anchor="t">
            <a:spAutoFit/>
          </a:bodyPr>
          <a:lstStyle/>
          <a:p>
            <a:pPr algn="l"/>
            <a:r>
              <a:rPr sz="2400" b="1">
                <a:solidFill>
                  <a:srgbClr val="0176D3"/>
                </a:solidFill>
                <a:latin typeface="Salesforce Sans"/>
              </a:rPr>
              <a:t>3</a:t>
            </a:r>
          </a:p>
        </p:txBody>
      </p:sp>
      <p:sp>
        <p:nvSpPr>
          <p:cNvPr id="31" name="TextBox 30"/>
          <p:cNvSpPr txBox="1"/>
          <p:nvPr/>
        </p:nvSpPr>
        <p:spPr>
          <a:xfrm>
            <a:off x="4937760" y="4754879"/>
            <a:ext cx="2743200" cy="274320"/>
          </a:xfrm>
          <a:prstGeom prst="rect">
            <a:avLst/>
          </a:prstGeom>
          <a:noFill/>
        </p:spPr>
        <p:txBody>
          <a:bodyPr wrap="square" lIns="18288" rIns="18288" tIns="18288" bIns="18288" anchor="t">
            <a:spAutoFit/>
          </a:bodyPr>
          <a:lstStyle/>
          <a:p>
            <a:pPr algn="l"/>
            <a:r>
              <a:rPr sz="1400" b="1">
                <a:solidFill>
                  <a:srgbClr val="181818"/>
                </a:solidFill>
                <a:latin typeface="Salesforce Sans"/>
              </a:rPr>
              <a:t>Signals &amp; feedback</a:t>
            </a:r>
          </a:p>
        </p:txBody>
      </p:sp>
      <p:sp>
        <p:nvSpPr>
          <p:cNvPr id="32" name="TextBox 31"/>
          <p:cNvSpPr txBox="1"/>
          <p:nvPr/>
        </p:nvSpPr>
        <p:spPr>
          <a:xfrm>
            <a:off x="4937760" y="5010912"/>
            <a:ext cx="2743200" cy="566928"/>
          </a:xfrm>
          <a:prstGeom prst="rect">
            <a:avLst/>
          </a:prstGeom>
          <a:noFill/>
        </p:spPr>
        <p:txBody>
          <a:bodyPr wrap="square" lIns="18288" rIns="18288" tIns="18288" bIns="18288" anchor="t">
            <a:spAutoFit/>
          </a:bodyPr>
          <a:lstStyle/>
          <a:p>
            <a:pPr algn="l"/>
            <a:r>
              <a:rPr sz="1100" b="0">
                <a:solidFill>
                  <a:srgbClr val="444444"/>
                </a:solidFill>
                <a:latin typeface="Salesforce Sans"/>
              </a:rPr>
              <a:t>Looping, empty or truncated output, failed tasks, and spikes in users' 👎.</a:t>
            </a:r>
          </a:p>
        </p:txBody>
      </p:sp>
      <p:sp>
        <p:nvSpPr>
          <p:cNvPr id="33" name="Rounded Rectangle 32"/>
          <p:cNvSpPr/>
          <p:nvPr/>
        </p:nvSpPr>
        <p:spPr>
          <a:xfrm>
            <a:off x="8083296" y="2103120"/>
            <a:ext cx="3566160" cy="3566160"/>
          </a:xfrm>
          <a:prstGeom prst="roundRect">
            <a:avLst>
              <a:gd name="adj" fmla="val 4000"/>
            </a:avLst>
          </a:prstGeom>
          <a:solidFill>
            <a:srgbClr val="FFFFFF"/>
          </a:solidFill>
          <a:ln w="12700">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311896" y="2267712"/>
            <a:ext cx="3108960" cy="274320"/>
          </a:xfrm>
          <a:prstGeom prst="rect">
            <a:avLst/>
          </a:prstGeom>
          <a:noFill/>
        </p:spPr>
        <p:txBody>
          <a:bodyPr wrap="square" lIns="18288" rIns="18288" tIns="18288" bIns="18288" anchor="t">
            <a:spAutoFit/>
          </a:bodyPr>
          <a:lstStyle/>
          <a:p>
            <a:pPr algn="l"/>
            <a:r>
              <a:rPr sz="1100" b="1">
                <a:solidFill>
                  <a:srgbClr val="0176D3"/>
                </a:solidFill>
                <a:latin typeface="Salesforce Sans"/>
              </a:rPr>
              <a:t>03  WHAT IT DOES</a:t>
            </a:r>
          </a:p>
        </p:txBody>
      </p:sp>
      <p:sp>
        <p:nvSpPr>
          <p:cNvPr id="35" name="TextBox 34"/>
          <p:cNvSpPr txBox="1"/>
          <p:nvPr/>
        </p:nvSpPr>
        <p:spPr>
          <a:xfrm>
            <a:off x="8311896" y="2505456"/>
            <a:ext cx="3108960" cy="365760"/>
          </a:xfrm>
          <a:prstGeom prst="rect">
            <a:avLst/>
          </a:prstGeom>
          <a:noFill/>
        </p:spPr>
        <p:txBody>
          <a:bodyPr wrap="square" lIns="18288" rIns="18288" tIns="18288" bIns="18288" anchor="t">
            <a:spAutoFit/>
          </a:bodyPr>
          <a:lstStyle/>
          <a:p>
            <a:pPr algn="l"/>
            <a:r>
              <a:rPr sz="1700" b="1">
                <a:solidFill>
                  <a:srgbClr val="014486"/>
                </a:solidFill>
                <a:latin typeface="Salesforce Sans"/>
              </a:rPr>
              <a:t>Your choice, per category</a:t>
            </a:r>
          </a:p>
        </p:txBody>
      </p:sp>
      <p:sp>
        <p:nvSpPr>
          <p:cNvPr id="36" name="Oval 35"/>
          <p:cNvSpPr/>
          <p:nvPr/>
        </p:nvSpPr>
        <p:spPr>
          <a:xfrm>
            <a:off x="8311896" y="3099815"/>
            <a:ext cx="384048" cy="384048"/>
          </a:xfrm>
          <a:prstGeom prst="ellipse">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Salesforce Sans"/>
              </a:rPr>
              <a:t>✓</a:t>
            </a:r>
          </a:p>
        </p:txBody>
      </p:sp>
      <p:sp>
        <p:nvSpPr>
          <p:cNvPr id="37" name="TextBox 36"/>
          <p:cNvSpPr txBox="1"/>
          <p:nvPr/>
        </p:nvSpPr>
        <p:spPr>
          <a:xfrm>
            <a:off x="8842248" y="3044951"/>
            <a:ext cx="2743200" cy="274320"/>
          </a:xfrm>
          <a:prstGeom prst="rect">
            <a:avLst/>
          </a:prstGeom>
          <a:noFill/>
        </p:spPr>
        <p:txBody>
          <a:bodyPr wrap="square" lIns="18288" rIns="18288" tIns="18288" bIns="18288" anchor="t">
            <a:spAutoFit/>
          </a:bodyPr>
          <a:lstStyle/>
          <a:p>
            <a:pPr algn="l"/>
            <a:r>
              <a:rPr sz="1400" b="1">
                <a:solidFill>
                  <a:srgbClr val="181818"/>
                </a:solidFill>
                <a:latin typeface="Salesforce Sans"/>
              </a:rPr>
              <a:t>Pass</a:t>
            </a:r>
          </a:p>
        </p:txBody>
      </p:sp>
      <p:sp>
        <p:nvSpPr>
          <p:cNvPr id="38" name="TextBox 37"/>
          <p:cNvSpPr txBox="1"/>
          <p:nvPr/>
        </p:nvSpPr>
        <p:spPr>
          <a:xfrm>
            <a:off x="8842248" y="3300983"/>
            <a:ext cx="2743200" cy="274320"/>
          </a:xfrm>
          <a:prstGeom prst="rect">
            <a:avLst/>
          </a:prstGeom>
          <a:noFill/>
        </p:spPr>
        <p:txBody>
          <a:bodyPr wrap="square" lIns="18288" rIns="18288" tIns="18288" bIns="18288" anchor="t">
            <a:spAutoFit/>
          </a:bodyPr>
          <a:lstStyle/>
          <a:p>
            <a:pPr algn="l"/>
            <a:r>
              <a:rPr sz="1100" b="0">
                <a:solidFill>
                  <a:srgbClr val="444444"/>
                </a:solidFill>
                <a:latin typeface="Salesforce Sans"/>
              </a:rPr>
              <a:t>Clean answers flow untouched</a:t>
            </a:r>
          </a:p>
        </p:txBody>
      </p:sp>
      <p:sp>
        <p:nvSpPr>
          <p:cNvPr id="39" name="Oval 38"/>
          <p:cNvSpPr/>
          <p:nvPr/>
        </p:nvSpPr>
        <p:spPr>
          <a:xfrm>
            <a:off x="8311896" y="3785615"/>
            <a:ext cx="384048" cy="384048"/>
          </a:xfrm>
          <a:prstGeom prst="ellipse">
            <a:avLst/>
          </a:prstGeom>
          <a:solidFill>
            <a:srgbClr val="FE933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Salesforce Sans"/>
              </a:rPr>
              <a:t>!</a:t>
            </a:r>
          </a:p>
        </p:txBody>
      </p:sp>
      <p:sp>
        <p:nvSpPr>
          <p:cNvPr id="40" name="TextBox 39"/>
          <p:cNvSpPr txBox="1"/>
          <p:nvPr/>
        </p:nvSpPr>
        <p:spPr>
          <a:xfrm>
            <a:off x="8842248" y="3730752"/>
            <a:ext cx="2743200" cy="274320"/>
          </a:xfrm>
          <a:prstGeom prst="rect">
            <a:avLst/>
          </a:prstGeom>
          <a:noFill/>
        </p:spPr>
        <p:txBody>
          <a:bodyPr wrap="square" lIns="18288" rIns="18288" tIns="18288" bIns="18288" anchor="t">
            <a:spAutoFit/>
          </a:bodyPr>
          <a:lstStyle/>
          <a:p>
            <a:pPr algn="l"/>
            <a:r>
              <a:rPr sz="1400" b="1">
                <a:solidFill>
                  <a:srgbClr val="181818"/>
                </a:solidFill>
                <a:latin typeface="Salesforce Sans"/>
              </a:rPr>
              <a:t>Annotate</a:t>
            </a:r>
          </a:p>
        </p:txBody>
      </p:sp>
      <p:sp>
        <p:nvSpPr>
          <p:cNvPr id="41" name="TextBox 40"/>
          <p:cNvSpPr txBox="1"/>
          <p:nvPr/>
        </p:nvSpPr>
        <p:spPr>
          <a:xfrm>
            <a:off x="8842248" y="3986783"/>
            <a:ext cx="2743200" cy="274320"/>
          </a:xfrm>
          <a:prstGeom prst="rect">
            <a:avLst/>
          </a:prstGeom>
          <a:noFill/>
        </p:spPr>
        <p:txBody>
          <a:bodyPr wrap="square" lIns="18288" rIns="18288" tIns="18288" bIns="18288" anchor="t">
            <a:spAutoFit/>
          </a:bodyPr>
          <a:lstStyle/>
          <a:p>
            <a:pPr algn="l"/>
            <a:r>
              <a:rPr sz="1100" b="0">
                <a:solidFill>
                  <a:srgbClr val="444444"/>
                </a:solidFill>
                <a:latin typeface="Salesforce Sans"/>
              </a:rPr>
              <a:t>Delivered with a quality report</a:t>
            </a:r>
          </a:p>
        </p:txBody>
      </p:sp>
      <p:sp>
        <p:nvSpPr>
          <p:cNvPr id="42" name="Oval 41"/>
          <p:cNvSpPr/>
          <p:nvPr/>
        </p:nvSpPr>
        <p:spPr>
          <a:xfrm>
            <a:off x="8311896" y="4471416"/>
            <a:ext cx="384048" cy="384048"/>
          </a:xfrm>
          <a:prstGeom prst="ellipse">
            <a:avLst/>
          </a:prstGeom>
          <a:solidFill>
            <a:srgbClr val="EA00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Salesforce Sans"/>
              </a:rPr>
              <a:t>×</a:t>
            </a:r>
          </a:p>
        </p:txBody>
      </p:sp>
      <p:sp>
        <p:nvSpPr>
          <p:cNvPr id="43" name="TextBox 42"/>
          <p:cNvSpPr txBox="1"/>
          <p:nvPr/>
        </p:nvSpPr>
        <p:spPr>
          <a:xfrm>
            <a:off x="8842248" y="4416552"/>
            <a:ext cx="2743200" cy="274320"/>
          </a:xfrm>
          <a:prstGeom prst="rect">
            <a:avLst/>
          </a:prstGeom>
          <a:noFill/>
        </p:spPr>
        <p:txBody>
          <a:bodyPr wrap="square" lIns="18288" rIns="18288" tIns="18288" bIns="18288" anchor="t">
            <a:spAutoFit/>
          </a:bodyPr>
          <a:lstStyle/>
          <a:p>
            <a:pPr algn="l"/>
            <a:r>
              <a:rPr sz="1400" b="1">
                <a:solidFill>
                  <a:srgbClr val="181818"/>
                </a:solidFill>
                <a:latin typeface="Salesforce Sans"/>
              </a:rPr>
              <a:t>Block</a:t>
            </a:r>
          </a:p>
        </p:txBody>
      </p:sp>
      <p:sp>
        <p:nvSpPr>
          <p:cNvPr id="44" name="TextBox 43"/>
          <p:cNvSpPr txBox="1"/>
          <p:nvPr/>
        </p:nvSpPr>
        <p:spPr>
          <a:xfrm>
            <a:off x="8842248" y="4672583"/>
            <a:ext cx="2743200" cy="274320"/>
          </a:xfrm>
          <a:prstGeom prst="rect">
            <a:avLst/>
          </a:prstGeom>
          <a:noFill/>
        </p:spPr>
        <p:txBody>
          <a:bodyPr wrap="square" lIns="18288" rIns="18288" tIns="18288" bIns="18288" anchor="t">
            <a:spAutoFit/>
          </a:bodyPr>
          <a:lstStyle/>
          <a:p>
            <a:pPr algn="l"/>
            <a:r>
              <a:rPr sz="1100" b="0">
                <a:solidFill>
                  <a:srgbClr val="444444"/>
                </a:solidFill>
                <a:latin typeface="Salesforce Sans"/>
              </a:rPr>
              <a:t>Answer withheld from the user</a:t>
            </a:r>
          </a:p>
        </p:txBody>
      </p:sp>
      <p:sp>
        <p:nvSpPr>
          <p:cNvPr id="45" name="TextBox 44"/>
          <p:cNvSpPr txBox="1"/>
          <p:nvPr/>
        </p:nvSpPr>
        <p:spPr>
          <a:xfrm>
            <a:off x="8311896" y="5120640"/>
            <a:ext cx="3154680" cy="457200"/>
          </a:xfrm>
          <a:prstGeom prst="rect">
            <a:avLst/>
          </a:prstGeom>
          <a:noFill/>
        </p:spPr>
        <p:txBody>
          <a:bodyPr wrap="square" lIns="18288" rIns="18288" tIns="18288" bIns="18288" anchor="t">
            <a:spAutoFit/>
          </a:bodyPr>
          <a:lstStyle/>
          <a:p>
            <a:pPr algn="l"/>
            <a:r>
              <a:rPr sz="1100" b="0">
                <a:solidFill>
                  <a:srgbClr val="747474"/>
                </a:solidFill>
                <a:latin typeface="Salesforce Sans"/>
              </a:rPr>
              <a:t>Every flag is logged by the gateway and reported in the response.</a:t>
            </a:r>
          </a:p>
        </p:txBody>
      </p:sp>
      <p:sp>
        <p:nvSpPr>
          <p:cNvPr id="46" name="TextBox 45"/>
          <p:cNvSpPr txBox="1"/>
          <p:nvPr/>
        </p:nvSpPr>
        <p:spPr>
          <a:xfrm>
            <a:off x="640080" y="5833872"/>
            <a:ext cx="2592324" cy="365760"/>
          </a:xfrm>
          <a:prstGeom prst="rect">
            <a:avLst/>
          </a:prstGeom>
          <a:noFill/>
        </p:spPr>
        <p:txBody>
          <a:bodyPr wrap="square" lIns="18288" rIns="18288" tIns="18288" bIns="18288" anchor="t">
            <a:spAutoFit/>
          </a:bodyPr>
          <a:lstStyle/>
          <a:p>
            <a:pPr algn="ctr"/>
            <a:r>
              <a:rPr sz="2000" b="1">
                <a:solidFill>
                  <a:srgbClr val="0176D3"/>
                </a:solidFill>
                <a:latin typeface="Salesforce Sans"/>
              </a:rPr>
              <a:t>1.1–2.4 s</a:t>
            </a:r>
          </a:p>
        </p:txBody>
      </p:sp>
      <p:sp>
        <p:nvSpPr>
          <p:cNvPr id="47" name="TextBox 46"/>
          <p:cNvSpPr txBox="1"/>
          <p:nvPr/>
        </p:nvSpPr>
        <p:spPr>
          <a:xfrm>
            <a:off x="640080" y="6199632"/>
            <a:ext cx="2592324" cy="274320"/>
          </a:xfrm>
          <a:prstGeom prst="rect">
            <a:avLst/>
          </a:prstGeom>
          <a:noFill/>
        </p:spPr>
        <p:txBody>
          <a:bodyPr wrap="square" lIns="18288" rIns="18288" tIns="18288" bIns="18288" anchor="t">
            <a:spAutoFit/>
          </a:bodyPr>
          <a:lstStyle/>
          <a:p>
            <a:pPr algn="ctr"/>
            <a:r>
              <a:rPr sz="1100" b="0">
                <a:solidFill>
                  <a:srgbClr val="444444"/>
                </a:solidFill>
                <a:latin typeface="Salesforce Sans"/>
              </a:rPr>
              <a:t>LLM verdict per answer</a:t>
            </a:r>
          </a:p>
        </p:txBody>
      </p:sp>
      <p:sp>
        <p:nvSpPr>
          <p:cNvPr id="48" name="Rectangle 47"/>
          <p:cNvSpPr/>
          <p:nvPr/>
        </p:nvSpPr>
        <p:spPr>
          <a:xfrm>
            <a:off x="3305556" y="5907024"/>
            <a:ext cx="18288" cy="457200"/>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3415284" y="5833872"/>
            <a:ext cx="2592324" cy="365760"/>
          </a:xfrm>
          <a:prstGeom prst="rect">
            <a:avLst/>
          </a:prstGeom>
          <a:noFill/>
        </p:spPr>
        <p:txBody>
          <a:bodyPr wrap="square" lIns="18288" rIns="18288" tIns="18288" bIns="18288" anchor="t">
            <a:spAutoFit/>
          </a:bodyPr>
          <a:lstStyle/>
          <a:p>
            <a:pPr algn="ctr"/>
            <a:r>
              <a:rPr sz="2000" b="1">
                <a:solidFill>
                  <a:srgbClr val="0176D3"/>
                </a:solidFill>
                <a:latin typeface="Salesforce Sans"/>
              </a:rPr>
              <a:t>4</a:t>
            </a:r>
          </a:p>
        </p:txBody>
      </p:sp>
      <p:sp>
        <p:nvSpPr>
          <p:cNvPr id="50" name="TextBox 49"/>
          <p:cNvSpPr txBox="1"/>
          <p:nvPr/>
        </p:nvSpPr>
        <p:spPr>
          <a:xfrm>
            <a:off x="3415284" y="6199632"/>
            <a:ext cx="2592324" cy="274320"/>
          </a:xfrm>
          <a:prstGeom prst="rect">
            <a:avLst/>
          </a:prstGeom>
          <a:noFill/>
        </p:spPr>
        <p:txBody>
          <a:bodyPr wrap="square" lIns="18288" rIns="18288" tIns="18288" bIns="18288" anchor="t">
            <a:spAutoFit/>
          </a:bodyPr>
          <a:lstStyle/>
          <a:p>
            <a:pPr algn="ctr"/>
            <a:r>
              <a:rPr sz="1100" b="0">
                <a:solidFill>
                  <a:srgbClr val="444444"/>
                </a:solidFill>
                <a:latin typeface="Salesforce Sans"/>
              </a:rPr>
              <a:t>risk categories</a:t>
            </a:r>
          </a:p>
        </p:txBody>
      </p:sp>
      <p:sp>
        <p:nvSpPr>
          <p:cNvPr id="51" name="Rectangle 50"/>
          <p:cNvSpPr/>
          <p:nvPr/>
        </p:nvSpPr>
        <p:spPr>
          <a:xfrm>
            <a:off x="6080760" y="5907024"/>
            <a:ext cx="18288" cy="457200"/>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190488" y="5833872"/>
            <a:ext cx="2592324" cy="365760"/>
          </a:xfrm>
          <a:prstGeom prst="rect">
            <a:avLst/>
          </a:prstGeom>
          <a:noFill/>
        </p:spPr>
        <p:txBody>
          <a:bodyPr wrap="square" lIns="18288" rIns="18288" tIns="18288" bIns="18288" anchor="t">
            <a:spAutoFit/>
          </a:bodyPr>
          <a:lstStyle/>
          <a:p>
            <a:pPr algn="ctr"/>
            <a:r>
              <a:rPr sz="2000" b="1">
                <a:solidFill>
                  <a:srgbClr val="0176D3"/>
                </a:solidFill>
                <a:latin typeface="Salesforce Sans"/>
              </a:rPr>
              <a:t>A2A v0.3 &amp; v1.0</a:t>
            </a:r>
          </a:p>
        </p:txBody>
      </p:sp>
      <p:sp>
        <p:nvSpPr>
          <p:cNvPr id="53" name="TextBox 52"/>
          <p:cNvSpPr txBox="1"/>
          <p:nvPr/>
        </p:nvSpPr>
        <p:spPr>
          <a:xfrm>
            <a:off x="6190488" y="6199632"/>
            <a:ext cx="2592324" cy="274320"/>
          </a:xfrm>
          <a:prstGeom prst="rect">
            <a:avLst/>
          </a:prstGeom>
          <a:noFill/>
        </p:spPr>
        <p:txBody>
          <a:bodyPr wrap="square" lIns="18288" rIns="18288" tIns="18288" bIns="18288" anchor="t">
            <a:spAutoFit/>
          </a:bodyPr>
          <a:lstStyle/>
          <a:p>
            <a:pPr algn="ctr"/>
            <a:r>
              <a:rPr sz="1100" b="0">
                <a:solidFill>
                  <a:srgbClr val="444444"/>
                </a:solidFill>
                <a:latin typeface="Salesforce Sans"/>
              </a:rPr>
              <a:t>plus OpenAI &amp; Anthropic APIs</a:t>
            </a:r>
          </a:p>
        </p:txBody>
      </p:sp>
      <p:sp>
        <p:nvSpPr>
          <p:cNvPr id="54" name="Rectangle 53"/>
          <p:cNvSpPr/>
          <p:nvPr/>
        </p:nvSpPr>
        <p:spPr>
          <a:xfrm>
            <a:off x="8855964" y="5907024"/>
            <a:ext cx="18288" cy="457200"/>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965692" y="5833872"/>
            <a:ext cx="2592324" cy="365760"/>
          </a:xfrm>
          <a:prstGeom prst="rect">
            <a:avLst/>
          </a:prstGeom>
          <a:noFill/>
        </p:spPr>
        <p:txBody>
          <a:bodyPr wrap="square" lIns="18288" rIns="18288" tIns="18288" bIns="18288" anchor="t">
            <a:spAutoFit/>
          </a:bodyPr>
          <a:lstStyle/>
          <a:p>
            <a:pPr algn="ctr"/>
            <a:r>
              <a:rPr sz="2000" b="1">
                <a:solidFill>
                  <a:srgbClr val="0176D3"/>
                </a:solidFill>
                <a:latin typeface="Salesforce Sans"/>
              </a:rPr>
              <a:t>102</a:t>
            </a:r>
          </a:p>
        </p:txBody>
      </p:sp>
      <p:sp>
        <p:nvSpPr>
          <p:cNvPr id="56" name="TextBox 55"/>
          <p:cNvSpPr txBox="1"/>
          <p:nvPr/>
        </p:nvSpPr>
        <p:spPr>
          <a:xfrm>
            <a:off x="8965692" y="6199632"/>
            <a:ext cx="2592324" cy="274320"/>
          </a:xfrm>
          <a:prstGeom prst="rect">
            <a:avLst/>
          </a:prstGeom>
          <a:noFill/>
        </p:spPr>
        <p:txBody>
          <a:bodyPr wrap="square" lIns="18288" rIns="18288" tIns="18288" bIns="18288" anchor="t">
            <a:spAutoFit/>
          </a:bodyPr>
          <a:lstStyle/>
          <a:p>
            <a:pPr algn="ctr"/>
            <a:r>
              <a:rPr sz="1100" b="0">
                <a:solidFill>
                  <a:srgbClr val="444444"/>
                </a:solidFill>
                <a:latin typeface="Salesforce Sans"/>
              </a:rPr>
              <a:t>automated tests</a:t>
            </a:r>
          </a:p>
        </p:txBody>
      </p:sp>
      <p:sp>
        <p:nvSpPr>
          <p:cNvPr id="57" name="TextBox 56"/>
          <p:cNvSpPr txBox="1"/>
          <p:nvPr/>
        </p:nvSpPr>
        <p:spPr>
          <a:xfrm>
            <a:off x="548640" y="6510528"/>
            <a:ext cx="11155680" cy="228600"/>
          </a:xfrm>
          <a:prstGeom prst="rect">
            <a:avLst/>
          </a:prstGeom>
          <a:noFill/>
        </p:spPr>
        <p:txBody>
          <a:bodyPr wrap="square" lIns="18288" rIns="18288" tIns="18288" bIns="18288" anchor="t">
            <a:spAutoFit/>
          </a:bodyPr>
          <a:lstStyle/>
          <a:p>
            <a:pPr algn="l"/>
            <a:r>
              <a:rPr sz="900" b="0">
                <a:solidFill>
                  <a:srgbClr val="747474"/>
                </a:solidFill>
                <a:latin typeface="Salesforce Sans"/>
              </a:rPr>
              <a:t>Numbers from the live CloudHub 2.0 run on agent-network-ingress-gw, 9 Oct 2026 (judge: OpenAI gpt-5.4).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