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(~45 s)</a:t>
            </a:r>
          </a:p>
          <a:p>
            <a:r>
              <a:t>AI agents now answer users directly, but most guardrails only check the prompt, not the answer.</a:t>
            </a:r>
          </a:p>
          <a:p>
            <a:r>
              <a:t>This policy runs on Omni Gateway, between the gateway and the agent, and checks every answer before the user sees it. No change to the agent.</a:t>
            </a:r>
          </a:p>
          <a:p>
            <a:r>
              <a:t>A separate AI judge scores each answer for hallucination, toxicity, bias and anomaly. If the judge is down, a red-flag word list takes over, and checks for broken output and user thumbs-down always run.</a:t>
            </a:r>
          </a:p>
          <a:p>
            <a:r>
              <a:t>Per risk, you choose what happens to a flagged answer: log it, annotate it with a warning, or block it.</a:t>
            </a:r>
          </a:p>
          <a:p>
            <a:r>
              <a:t>In our live run, each verdict took one to two and a half seconds.</a:t>
            </a:r>
          </a:p>
          <a:p>
            <a:r>
              <a:t>The bad answers you'll see are scripted, but the judge is real. Let's look.</a:t>
            </a:r>
          </a:p>
          <a:p/>
          <a:p>
            <a:r>
              <a:t>IF ASKED</a:t>
            </a:r>
          </a:p>
          <a:p>
            <a:r>
              <a:t>- Monitoring: request volume and latency yes; flags are in gateway logs and the response report (outbound violation counts aren't in Monitoring yet).</a:t>
            </a:r>
          </a:p>
          <a:p>
            <a:r>
              <a:t>- LLM traffic: reads OpenAI and Anthropic formats; today's demo uses an A2A agent, the LLM-API path is lab-tested.</a:t>
            </a:r>
          </a:p>
          <a:p>
            <a:r>
              <a:t>- Latency: ~1-2.5 s with the judge on every answer; near zero for clean traffic with judgeMode onSuspicion.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32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00A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B96FF"/>
                </a:solidFill>
                <a:latin typeface="Salesforce Sans"/>
              </a:rPr>
              <a:t>OMNI GATEWAY POLICY  ·  FOR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lesforce Sans"/>
              </a:rPr>
              <a:t>Output Quality &amp;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556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014486"/>
                </a:solidFill>
                <a:latin typeface="Salesforce Sans"/>
              </a:rPr>
              <a:t>Catches hallucinated, biased, toxic and off-track AI answers on the gateway — before they reach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01  WHERE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Outbound, on the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63239"/>
            <a:ext cx="17830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17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118103"/>
            <a:ext cx="160020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User / app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A2A or LLM API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032D60"/>
          </a:solidFill>
          <a:ln w="12700">
            <a:solidFill>
              <a:srgbClr val="032D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3941063"/>
            <a:ext cx="160020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alesforce Sans"/>
              </a:rPr>
              <a:t>Omni Gateway</a:t>
            </a:r>
          </a:p>
          <a:p>
            <a:pPr algn="ctr"/>
            <a:r>
              <a:rPr sz="1000" b="0">
                <a:solidFill>
                  <a:srgbClr val="1B96FF"/>
                </a:solidFill>
                <a:latin typeface="Salesforce Sans"/>
              </a:rPr>
              <a:t>outbound policy scores the reply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46320"/>
            <a:ext cx="17830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17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901183"/>
            <a:ext cx="16002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AI agent / LLM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e.g. CloudHub 2.0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68780" y="3566160"/>
            <a:ext cx="0" cy="320040"/>
          </a:xfrm>
          <a:prstGeom prst="line">
            <a:avLst/>
          </a:prstGeom>
          <a:ln w="25400">
            <a:solidFill>
              <a:srgbClr val="017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68780" y="4526279"/>
            <a:ext cx="0" cy="320041"/>
          </a:xfrm>
          <a:prstGeom prst="line">
            <a:avLst/>
          </a:prstGeom>
          <a:ln w="25400">
            <a:solidFill>
              <a:srgbClr val="017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43200" y="3886200"/>
            <a:ext cx="11887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B9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34640" y="3941063"/>
            <a:ext cx="10058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LLM judge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OpenAI gpt-5.4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60320" y="4206240"/>
            <a:ext cx="182880" cy="0"/>
          </a:xfrm>
          <a:prstGeom prst="line">
            <a:avLst/>
          </a:prstGeom>
          <a:ln w="19050">
            <a:solidFill>
              <a:srgbClr val="1B9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15968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44568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02  HOW IT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Three layers, always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2980944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01752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LLM judge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27355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Scores each answer 0–1 for hallucination, toxicity, bias and anomaly — and sees the user's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3849624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88620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Word-list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14223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Scores the same risks if the judge is slow or down. Traffic is never held 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718303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754879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Signals &amp; 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01091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Looping, empty or truncated output, failed tasks, and spikes in users' 👎.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3296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11896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03  WHAT IT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Your choice, per category</a:t>
            </a:r>
          </a:p>
        </p:txBody>
      </p:sp>
      <p:sp>
        <p:nvSpPr>
          <p:cNvPr id="36" name="Oval 35"/>
          <p:cNvSpPr/>
          <p:nvPr/>
        </p:nvSpPr>
        <p:spPr>
          <a:xfrm>
            <a:off x="8311896" y="3099815"/>
            <a:ext cx="384048" cy="384048"/>
          </a:xfrm>
          <a:prstGeom prst="ellipse">
            <a:avLst/>
          </a:prstGeom>
          <a:solidFill>
            <a:srgbClr val="2E8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2248" y="3044951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8" y="33009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Clean, or flagged and set to monitor</a:t>
            </a:r>
          </a:p>
        </p:txBody>
      </p:sp>
      <p:sp>
        <p:nvSpPr>
          <p:cNvPr id="39" name="Oval 38"/>
          <p:cNvSpPr/>
          <p:nvPr/>
        </p:nvSpPr>
        <p:spPr>
          <a:xfrm>
            <a:off x="8311896" y="3785615"/>
            <a:ext cx="384048" cy="384048"/>
          </a:xfrm>
          <a:prstGeom prst="ellipse">
            <a:avLst/>
          </a:prstGeom>
          <a:solidFill>
            <a:srgbClr val="FE9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!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3730752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Annotate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39867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Delivered with a quality report</a:t>
            </a:r>
          </a:p>
        </p:txBody>
      </p:sp>
      <p:sp>
        <p:nvSpPr>
          <p:cNvPr id="42" name="Oval 41"/>
          <p:cNvSpPr/>
          <p:nvPr/>
        </p:nvSpPr>
        <p:spPr>
          <a:xfrm>
            <a:off x="8311896" y="4471416"/>
            <a:ext cx="384048" cy="384048"/>
          </a:xfrm>
          <a:prstGeom prst="ellipse">
            <a:avLst/>
          </a:prstGeom>
          <a:solidFill>
            <a:srgbClr val="EA0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2248" y="4416552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Block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46725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Answer withheld from the user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5120640"/>
            <a:ext cx="3154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47474"/>
                </a:solidFill>
                <a:latin typeface="Salesforce Sans"/>
              </a:rPr>
              <a:t>Every flag is logged by the gateway and reported in the response.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1.1–2.4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LLM verdict per answer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05556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415284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15284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risk categories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190488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A2A v0.3 &amp; v1.0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0488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plus OpenAI &amp; Anthropic APIs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55964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65692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102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5692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automated tests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510528"/>
            <a:ext cx="11155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747474"/>
                </a:solidFill>
                <a:latin typeface="Salesforce Sans"/>
              </a:rPr>
              <a:t>Numbers from the live CloudHub 2.0 run on agent-network-ingress-gw, 9 Oct 2026 (judge: OpenAI gpt-5.4).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