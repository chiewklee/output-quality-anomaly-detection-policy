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TRACK (~45 s)</a:t>
            </a:r>
          </a:p>
          <a:p>
            <a:r>
              <a:t>AI agents now answer users directly, but most guardrails only check the prompt, not the answer.</a:t>
            </a:r>
          </a:p>
          <a:p>
            <a:r>
              <a:t>This policy runs on Omni Gateway, between the gateway and the agent, and checks every answer before the user sees it. No change to the agent.</a:t>
            </a:r>
          </a:p>
          <a:p>
            <a:r>
              <a:t>A separate AI judge scores each answer for hallucination, toxicity, bias and anomaly. If the judge is down, a red-flag word list takes over, and checks for broken output and user thumbs-down always run.</a:t>
            </a:r>
          </a:p>
          <a:p>
            <a:r>
              <a:t>Per risk, you choose: pass it, annotate it with a warning, or block it.</a:t>
            </a:r>
          </a:p>
          <a:p>
            <a:r>
              <a:t>In our live run, each verdict took one to two and a half seconds.</a:t>
            </a:r>
          </a:p>
          <a:p>
            <a:r>
              <a:t>The bad answers you'll see are scripted, but the judge is real. Let's look.</a:t>
            </a:r>
          </a:p>
          <a:p/>
          <a:p>
            <a:r>
              <a:t>IF ASKED</a:t>
            </a:r>
          </a:p>
          <a:p>
            <a:r>
              <a:t>- Monitoring: request volume and latency yes; flags are in gateway logs and the response report (outbound violation counts aren't in Monitoring yet).</a:t>
            </a:r>
          </a:p>
          <a:p>
            <a:r>
              <a:t>- LLM traffic: reads OpenAI and Anthropic formats; today's demo uses an A2A agent, the LLM-API path is lab-tested.</a:t>
            </a:r>
          </a:p>
          <a:p>
            <a:r>
              <a:t>- Latency: ~1-2.5 s with the judge on every answer; near zero for clean traffic with judgeMode onSuspicion.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32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45720"/>
          </a:xfrm>
          <a:prstGeom prst="rect">
            <a:avLst/>
          </a:prstGeom>
          <a:solidFill>
            <a:srgbClr val="00A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9728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1B96FF"/>
                </a:solidFill>
                <a:latin typeface="Salesforce Sans"/>
              </a:rPr>
              <a:t>OMNI GATEWAY POLICY  ·  FOR AI AGENTS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Salesforce Sans"/>
              </a:rPr>
              <a:t>Output Quality &amp; Anomaly Detection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81328"/>
            <a:ext cx="1115568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700" b="0">
                <a:solidFill>
                  <a:srgbClr val="014486"/>
                </a:solidFill>
                <a:latin typeface="Salesforce Sans"/>
              </a:rPr>
              <a:t>Catches hallucinated, biased, toxic and off-track AI answers on the gateway — before they reach users.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103120"/>
            <a:ext cx="3566160" cy="3566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77240" y="2267712"/>
            <a:ext cx="31089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176D3"/>
                </a:solidFill>
                <a:latin typeface="Salesforce Sans"/>
              </a:rPr>
              <a:t>01  WHERE IT RUNS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505456"/>
            <a:ext cx="310896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14486"/>
                </a:solidFill>
                <a:latin typeface="Salesforce Sans"/>
              </a:rPr>
              <a:t>Outbound, on the gateway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063239"/>
            <a:ext cx="1783080" cy="502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176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68680" y="3118103"/>
            <a:ext cx="1600200" cy="3931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014486"/>
                </a:solidFill>
                <a:latin typeface="Salesforce Sans"/>
              </a:rPr>
              <a:t>User / app</a:t>
            </a:r>
          </a:p>
          <a:p>
            <a:pPr algn="ctr"/>
            <a:r>
              <a:rPr sz="1000" b="0">
                <a:solidFill>
                  <a:srgbClr val="444444"/>
                </a:solidFill>
                <a:latin typeface="Salesforce Sans"/>
              </a:rPr>
              <a:t>A2A or LLM API call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886200"/>
            <a:ext cx="1783080" cy="640080"/>
          </a:xfrm>
          <a:prstGeom prst="roundRect">
            <a:avLst>
              <a:gd name="adj" fmla="val 12000"/>
            </a:avLst>
          </a:prstGeom>
          <a:solidFill>
            <a:srgbClr val="032D60"/>
          </a:solidFill>
          <a:ln w="12700">
            <a:solidFill>
              <a:srgbClr val="032D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68680" y="3941063"/>
            <a:ext cx="1600200" cy="5303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alesforce Sans"/>
              </a:rPr>
              <a:t>Omni Gateway</a:t>
            </a:r>
          </a:p>
          <a:p>
            <a:pPr algn="ctr"/>
            <a:r>
              <a:rPr sz="1000" b="0">
                <a:solidFill>
                  <a:srgbClr val="1B96FF"/>
                </a:solidFill>
                <a:latin typeface="Salesforce Sans"/>
              </a:rPr>
              <a:t>outbound policy scores the reply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846320"/>
            <a:ext cx="1783080" cy="548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176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68680" y="4901183"/>
            <a:ext cx="1600200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014486"/>
                </a:solidFill>
                <a:latin typeface="Salesforce Sans"/>
              </a:rPr>
              <a:t>AI agent / LLM</a:t>
            </a:r>
          </a:p>
          <a:p>
            <a:pPr algn="ctr"/>
            <a:r>
              <a:rPr sz="1000" b="0">
                <a:solidFill>
                  <a:srgbClr val="444444"/>
                </a:solidFill>
                <a:latin typeface="Salesforce Sans"/>
              </a:rPr>
              <a:t>e.g. CloudHub 2.0 agent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668780" y="3566160"/>
            <a:ext cx="0" cy="320040"/>
          </a:xfrm>
          <a:prstGeom prst="line">
            <a:avLst/>
          </a:prstGeom>
          <a:ln w="25400">
            <a:solidFill>
              <a:srgbClr val="0176D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668780" y="4526279"/>
            <a:ext cx="0" cy="320041"/>
          </a:xfrm>
          <a:prstGeom prst="line">
            <a:avLst/>
          </a:prstGeom>
          <a:ln w="25400">
            <a:solidFill>
              <a:srgbClr val="0176D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2743200" y="3886200"/>
            <a:ext cx="1188720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B9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2834640" y="3941063"/>
            <a:ext cx="1005840" cy="5303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014486"/>
                </a:solidFill>
                <a:latin typeface="Salesforce Sans"/>
              </a:rPr>
              <a:t>LLM judge</a:t>
            </a:r>
          </a:p>
          <a:p>
            <a:pPr algn="ctr"/>
            <a:r>
              <a:rPr sz="1000" b="0">
                <a:solidFill>
                  <a:srgbClr val="444444"/>
                </a:solidFill>
                <a:latin typeface="Salesforce Sans"/>
              </a:rPr>
              <a:t>OpenAI gpt-5.4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560320" y="4206240"/>
            <a:ext cx="182880" cy="0"/>
          </a:xfrm>
          <a:prstGeom prst="line">
            <a:avLst/>
          </a:prstGeom>
          <a:ln w="19050">
            <a:solidFill>
              <a:srgbClr val="1B96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4315968" y="2103120"/>
            <a:ext cx="3566160" cy="3566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4544568" y="2267712"/>
            <a:ext cx="31089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176D3"/>
                </a:solidFill>
                <a:latin typeface="Salesforce Sans"/>
              </a:rPr>
              <a:t>02  HOW IT DECIDES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44568" y="2505456"/>
            <a:ext cx="310896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14486"/>
                </a:solidFill>
                <a:latin typeface="Salesforce Sans"/>
              </a:rPr>
              <a:t>Three layers, always 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44568" y="2980944"/>
            <a:ext cx="36576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400" b="1">
                <a:solidFill>
                  <a:srgbClr val="0176D3"/>
                </a:solidFill>
                <a:latin typeface="Salesforce Sans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37760" y="3017520"/>
            <a:ext cx="2743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81818"/>
                </a:solidFill>
                <a:latin typeface="Salesforce Sans"/>
              </a:rPr>
              <a:t>LLM judge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37760" y="3273552"/>
            <a:ext cx="274320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  <a:latin typeface="Salesforce Sans"/>
              </a:rPr>
              <a:t>Scores each answer 0–1 for hallucination, toxicity, bias and anomaly — and sees the user's question.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44568" y="3849624"/>
            <a:ext cx="36576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400" b="1">
                <a:solidFill>
                  <a:srgbClr val="0176D3"/>
                </a:solidFill>
                <a:latin typeface="Salesforce Sans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37760" y="3886200"/>
            <a:ext cx="2743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81818"/>
                </a:solidFill>
                <a:latin typeface="Salesforce Sans"/>
              </a:rPr>
              <a:t>Word-list fallback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37760" y="4142232"/>
            <a:ext cx="274320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  <a:latin typeface="Salesforce Sans"/>
              </a:rPr>
              <a:t>Scores the same risks if the judge is slow or down. Traffic is never held back.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44568" y="4718303"/>
            <a:ext cx="36576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400" b="1">
                <a:solidFill>
                  <a:srgbClr val="0176D3"/>
                </a:solidFill>
                <a:latin typeface="Salesforce Sans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37760" y="4754879"/>
            <a:ext cx="2743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81818"/>
                </a:solidFill>
                <a:latin typeface="Salesforce Sans"/>
              </a:rPr>
              <a:t>Signals &amp; feedback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37760" y="5010912"/>
            <a:ext cx="274320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  <a:latin typeface="Salesforce Sans"/>
              </a:rPr>
              <a:t>Looping, empty or truncated output, failed tasks, and spikes in users' 👎.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83296" y="2103120"/>
            <a:ext cx="3566160" cy="3566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311896" y="2267712"/>
            <a:ext cx="31089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176D3"/>
                </a:solidFill>
                <a:latin typeface="Salesforce Sans"/>
              </a:rPr>
              <a:t>03  WHAT IT DOES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11896" y="2505456"/>
            <a:ext cx="310896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14486"/>
                </a:solidFill>
                <a:latin typeface="Salesforce Sans"/>
              </a:rPr>
              <a:t>Your choice, per category</a:t>
            </a:r>
          </a:p>
        </p:txBody>
      </p:sp>
      <p:sp>
        <p:nvSpPr>
          <p:cNvPr id="36" name="Oval 35"/>
          <p:cNvSpPr/>
          <p:nvPr/>
        </p:nvSpPr>
        <p:spPr>
          <a:xfrm>
            <a:off x="8311896" y="3099815"/>
            <a:ext cx="384048" cy="384048"/>
          </a:xfrm>
          <a:prstGeom prst="ellipse">
            <a:avLst/>
          </a:prstGeom>
          <a:solidFill>
            <a:srgbClr val="2E8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Salesforce Sans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42248" y="3044951"/>
            <a:ext cx="2743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81818"/>
                </a:solidFill>
                <a:latin typeface="Salesforce Sans"/>
              </a:rPr>
              <a:t>Pass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42248" y="3300983"/>
            <a:ext cx="2743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  <a:latin typeface="Salesforce Sans"/>
              </a:rPr>
              <a:t>Clean answers flow untouched</a:t>
            </a:r>
          </a:p>
        </p:txBody>
      </p:sp>
      <p:sp>
        <p:nvSpPr>
          <p:cNvPr id="39" name="Oval 38"/>
          <p:cNvSpPr/>
          <p:nvPr/>
        </p:nvSpPr>
        <p:spPr>
          <a:xfrm>
            <a:off x="8311896" y="3785615"/>
            <a:ext cx="384048" cy="384048"/>
          </a:xfrm>
          <a:prstGeom prst="ellipse">
            <a:avLst/>
          </a:prstGeom>
          <a:solidFill>
            <a:srgbClr val="FE93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Salesforce Sans"/>
              </a:rPr>
              <a:t>!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842248" y="3730752"/>
            <a:ext cx="2743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81818"/>
                </a:solidFill>
                <a:latin typeface="Salesforce Sans"/>
              </a:rPr>
              <a:t>Annotate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842248" y="3986783"/>
            <a:ext cx="2743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  <a:latin typeface="Salesforce Sans"/>
              </a:rPr>
              <a:t>Delivered with a quality report</a:t>
            </a:r>
          </a:p>
        </p:txBody>
      </p:sp>
      <p:sp>
        <p:nvSpPr>
          <p:cNvPr id="42" name="Oval 41"/>
          <p:cNvSpPr/>
          <p:nvPr/>
        </p:nvSpPr>
        <p:spPr>
          <a:xfrm>
            <a:off x="8311896" y="4471416"/>
            <a:ext cx="384048" cy="384048"/>
          </a:xfrm>
          <a:prstGeom prst="ellipse">
            <a:avLst/>
          </a:prstGeom>
          <a:solidFill>
            <a:srgbClr val="EA0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Salesforce Sans"/>
              </a:rPr>
              <a:t>×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42248" y="4416552"/>
            <a:ext cx="2743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81818"/>
                </a:solidFill>
                <a:latin typeface="Salesforce Sans"/>
              </a:rPr>
              <a:t>Block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842248" y="4672583"/>
            <a:ext cx="2743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  <a:latin typeface="Salesforce Sans"/>
              </a:rPr>
              <a:t>Answer withheld from the user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11896" y="5120640"/>
            <a:ext cx="315468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>
                <a:solidFill>
                  <a:srgbClr val="747474"/>
                </a:solidFill>
                <a:latin typeface="Salesforce Sans"/>
              </a:rPr>
              <a:t>Every flag is logged by the gateway and reported in the response.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" y="5833872"/>
            <a:ext cx="2592324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2000" b="1">
                <a:solidFill>
                  <a:srgbClr val="0176D3"/>
                </a:solidFill>
                <a:latin typeface="Salesforce Sans"/>
              </a:rPr>
              <a:t>1.1–2.4 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" y="6199632"/>
            <a:ext cx="2592324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444444"/>
                </a:solidFill>
                <a:latin typeface="Salesforce Sans"/>
              </a:rPr>
              <a:t>LLM verdict per answer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305556" y="5907024"/>
            <a:ext cx="18288" cy="457200"/>
          </a:xfrm>
          <a:prstGeom prst="rect">
            <a:avLst/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3415284" y="5833872"/>
            <a:ext cx="2592324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2000" b="1">
                <a:solidFill>
                  <a:srgbClr val="0176D3"/>
                </a:solidFill>
                <a:latin typeface="Salesforce Sans"/>
              </a:rPr>
              <a:t>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415284" y="6199632"/>
            <a:ext cx="2592324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444444"/>
                </a:solidFill>
                <a:latin typeface="Salesforce Sans"/>
              </a:rPr>
              <a:t>risk categories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080760" y="5907024"/>
            <a:ext cx="18288" cy="457200"/>
          </a:xfrm>
          <a:prstGeom prst="rect">
            <a:avLst/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6190488" y="5833872"/>
            <a:ext cx="2592324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2000" b="1">
                <a:solidFill>
                  <a:srgbClr val="0176D3"/>
                </a:solidFill>
                <a:latin typeface="Salesforce Sans"/>
              </a:rPr>
              <a:t>A2A v0.3 &amp; v1.0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190488" y="6199632"/>
            <a:ext cx="2592324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444444"/>
                </a:solidFill>
                <a:latin typeface="Salesforce Sans"/>
              </a:rPr>
              <a:t>plus OpenAI &amp; Anthropic APIs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855964" y="5907024"/>
            <a:ext cx="18288" cy="457200"/>
          </a:xfrm>
          <a:prstGeom prst="rect">
            <a:avLst/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TextBox 54"/>
          <p:cNvSpPr txBox="1"/>
          <p:nvPr/>
        </p:nvSpPr>
        <p:spPr>
          <a:xfrm>
            <a:off x="8965692" y="5833872"/>
            <a:ext cx="2592324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2000" b="1">
                <a:solidFill>
                  <a:srgbClr val="0176D3"/>
                </a:solidFill>
                <a:latin typeface="Salesforce Sans"/>
              </a:rPr>
              <a:t>102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965692" y="6199632"/>
            <a:ext cx="2592324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444444"/>
                </a:solidFill>
                <a:latin typeface="Salesforce Sans"/>
              </a:rPr>
              <a:t>automated tests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48640" y="6510528"/>
            <a:ext cx="111556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00" b="0">
                <a:solidFill>
                  <a:srgbClr val="747474"/>
                </a:solidFill>
                <a:latin typeface="Salesforce Sans"/>
              </a:rPr>
              <a:t>Numbers from the live CloudHub 2.0 run on agent-network-ingress-gw, 9 Oct 2026 (judge: OpenAI gpt-5.4).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